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64592"/>
            <a:ext cx="11521440" cy="320040"/>
          </a:xfrm>
          <a:prstGeom prst="rect">
            <a:avLst/>
          </a:prstGeom>
          <a:noFill/>
        </p:spPr>
        <p:txBody>
          <a:bodyPr wrap="square">
            <a:spAutoFit/>
          </a:bodyPr>
          <a:lstStyle/>
          <a:p>
            <a:pPr>
              <a:defRPr sz="2600" b="1">
                <a:solidFill>
                  <a:srgbClr val="0A1B30"/>
                </a:solidFill>
              </a:defRPr>
            </a:pPr>
            <a:r>
              <a:t>From Documents to Continuity: Building a Living Cognition Infrastructure</a:t>
            </a:r>
          </a:p>
        </p:txBody>
      </p:sp>
      <p:sp>
        <p:nvSpPr>
          <p:cNvPr id="3" name="TextBox 2"/>
          <p:cNvSpPr txBox="1"/>
          <p:nvPr/>
        </p:nvSpPr>
        <p:spPr>
          <a:xfrm>
            <a:off x="320040" y="530352"/>
            <a:ext cx="11521440" cy="228600"/>
          </a:xfrm>
          <a:prstGeom prst="rect">
            <a:avLst/>
          </a:prstGeom>
          <a:noFill/>
        </p:spPr>
        <p:txBody>
          <a:bodyPr wrap="square">
            <a:spAutoFit/>
          </a:bodyPr>
          <a:lstStyle/>
          <a:p>
            <a:pPr>
              <a:defRPr sz="1600" b="0">
                <a:solidFill>
                  <a:srgbClr val="004CA0"/>
                </a:solidFill>
              </a:defRPr>
            </a:pPr>
            <a:r>
              <a:t>Preserve Meaning. Connect Knowledge. Enable Operational Wisdom.</a:t>
            </a:r>
          </a:p>
        </p:txBody>
      </p:sp>
      <p:sp>
        <p:nvSpPr>
          <p:cNvPr id="4" name="TextBox 3"/>
          <p:cNvSpPr txBox="1"/>
          <p:nvPr/>
        </p:nvSpPr>
        <p:spPr>
          <a:xfrm>
            <a:off x="320040" y="914400"/>
            <a:ext cx="5120640" cy="164592"/>
          </a:xfrm>
          <a:prstGeom prst="rect">
            <a:avLst/>
          </a:prstGeom>
          <a:noFill/>
        </p:spPr>
        <p:txBody>
          <a:bodyPr wrap="square">
            <a:spAutoFit/>
          </a:bodyPr>
          <a:lstStyle/>
          <a:p>
            <a:pPr>
              <a:defRPr sz="900" b="1">
                <a:solidFill>
                  <a:srgbClr val="004CA0"/>
                </a:solidFill>
              </a:defRPr>
            </a:pPr>
            <a:r>
              <a:t>THE SHIFT</a:t>
            </a:r>
          </a:p>
        </p:txBody>
      </p:sp>
      <p:sp>
        <p:nvSpPr>
          <p:cNvPr id="5" name="TextBox 4"/>
          <p:cNvSpPr txBox="1"/>
          <p:nvPr/>
        </p:nvSpPr>
        <p:spPr>
          <a:xfrm>
            <a:off x="320040" y="1133856"/>
            <a:ext cx="5120640" cy="640080"/>
          </a:xfrm>
          <a:prstGeom prst="rect">
            <a:avLst/>
          </a:prstGeom>
          <a:noFill/>
        </p:spPr>
        <p:txBody>
          <a:bodyPr wrap="square">
            <a:spAutoFit/>
          </a:bodyPr>
          <a:lstStyle/>
          <a:p>
            <a:pPr>
              <a:defRPr sz="800" b="0">
                <a:solidFill>
                  <a:srgbClr val="000000"/>
                </a:solidFill>
              </a:defRPr>
            </a:pPr>
            <a:r>
              <a:t>Human institutions were built for a slower world. Processes, documents, meetings, and approvals created confidence by transferring responsibility through structure, format, and ritual. Today, complexity moves faster than symbolic systems can adapt. The answer is a shift from document-centric operations to continuity-centric cognition.</a:t>
            </a:r>
          </a:p>
        </p:txBody>
      </p:sp>
      <p:sp>
        <p:nvSpPr>
          <p:cNvPr id="6" name="TextBox 5"/>
          <p:cNvSpPr txBox="1"/>
          <p:nvPr/>
        </p:nvSpPr>
        <p:spPr>
          <a:xfrm>
            <a:off x="320040" y="1874519"/>
            <a:ext cx="5120640" cy="164592"/>
          </a:xfrm>
          <a:prstGeom prst="rect">
            <a:avLst/>
          </a:prstGeom>
          <a:noFill/>
        </p:spPr>
        <p:txBody>
          <a:bodyPr wrap="square">
            <a:spAutoFit/>
          </a:bodyPr>
          <a:lstStyle/>
          <a:p>
            <a:pPr>
              <a:defRPr sz="900" b="1">
                <a:solidFill>
                  <a:srgbClr val="004CA0"/>
                </a:solidFill>
              </a:defRPr>
            </a:pPr>
            <a:r>
              <a:t>WHY THIS MATTERS</a:t>
            </a:r>
          </a:p>
        </p:txBody>
      </p:sp>
      <p:sp>
        <p:nvSpPr>
          <p:cNvPr id="7" name="TextBox 6"/>
          <p:cNvSpPr txBox="1"/>
          <p:nvPr/>
        </p:nvSpPr>
        <p:spPr>
          <a:xfrm>
            <a:off x="320040" y="2093976"/>
            <a:ext cx="5120640" cy="640080"/>
          </a:xfrm>
          <a:prstGeom prst="rect">
            <a:avLst/>
          </a:prstGeom>
          <a:noFill/>
        </p:spPr>
        <p:txBody>
          <a:bodyPr wrap="square">
            <a:spAutoFit/>
          </a:bodyPr>
          <a:lstStyle/>
          <a:p>
            <a:pPr>
              <a:defRPr sz="800" b="0">
                <a:solidFill>
                  <a:srgbClr val="000000"/>
                </a:solidFill>
              </a:defRPr>
            </a:pPr>
            <a:r>
              <a:t>Information is abundant. Coherence is not. The bottleneck is continuity, context, meaning, alignment, and survivability. Without persistent operational cognition, organisations rediscover the same ideas, repeat mistakes, lose knowledge, misalign intent and execution, and fail to adapt in time.</a:t>
            </a:r>
          </a:p>
        </p:txBody>
      </p:sp>
      <p:sp>
        <p:nvSpPr>
          <p:cNvPr id="8" name="TextBox 7"/>
          <p:cNvSpPr txBox="1"/>
          <p:nvPr/>
        </p:nvSpPr>
        <p:spPr>
          <a:xfrm>
            <a:off x="320040" y="2834639"/>
            <a:ext cx="5120640" cy="164592"/>
          </a:xfrm>
          <a:prstGeom prst="rect">
            <a:avLst/>
          </a:prstGeom>
          <a:noFill/>
        </p:spPr>
        <p:txBody>
          <a:bodyPr wrap="square">
            <a:spAutoFit/>
          </a:bodyPr>
          <a:lstStyle/>
          <a:p>
            <a:pPr>
              <a:defRPr sz="900" b="1">
                <a:solidFill>
                  <a:srgbClr val="004CA0"/>
                </a:solidFill>
              </a:defRPr>
            </a:pPr>
            <a:r>
              <a:t>WHAT IS REQUIRED</a:t>
            </a:r>
          </a:p>
        </p:txBody>
      </p:sp>
      <p:sp>
        <p:nvSpPr>
          <p:cNvPr id="9" name="TextBox 8"/>
          <p:cNvSpPr txBox="1"/>
          <p:nvPr/>
        </p:nvSpPr>
        <p:spPr>
          <a:xfrm>
            <a:off x="320040" y="3054096"/>
            <a:ext cx="5120640" cy="640080"/>
          </a:xfrm>
          <a:prstGeom prst="rect">
            <a:avLst/>
          </a:prstGeom>
          <a:noFill/>
        </p:spPr>
        <p:txBody>
          <a:bodyPr wrap="square">
            <a:spAutoFit/>
          </a:bodyPr>
          <a:lstStyle/>
          <a:p>
            <a:pPr>
              <a:defRPr sz="800" b="0">
                <a:solidFill>
                  <a:srgbClr val="000000"/>
                </a:solidFill>
              </a:defRPr>
            </a:pPr>
            <a:r>
              <a:t>A living cognition infrastructure continuously captures, connects, and reasons across the operational landscape. It must be persistent, connected, evidence-linked, runtime-aware, interoperable, machine-readable, and human-trustworthy.</a:t>
            </a:r>
          </a:p>
        </p:txBody>
      </p:sp>
      <p:sp>
        <p:nvSpPr>
          <p:cNvPr id="10" name="TextBox 9"/>
          <p:cNvSpPr txBox="1"/>
          <p:nvPr/>
        </p:nvSpPr>
        <p:spPr>
          <a:xfrm>
            <a:off x="6263640" y="914400"/>
            <a:ext cx="5440680" cy="164592"/>
          </a:xfrm>
          <a:prstGeom prst="rect">
            <a:avLst/>
          </a:prstGeom>
          <a:noFill/>
        </p:spPr>
        <p:txBody>
          <a:bodyPr wrap="square">
            <a:spAutoFit/>
          </a:bodyPr>
          <a:lstStyle/>
          <a:p>
            <a:pPr>
              <a:defRPr sz="900" b="1">
                <a:solidFill>
                  <a:srgbClr val="004CA0"/>
                </a:solidFill>
              </a:defRPr>
            </a:pPr>
            <a:r>
              <a:t>CORE PRINCIPLES</a:t>
            </a:r>
          </a:p>
        </p:txBody>
      </p:sp>
      <p:sp>
        <p:nvSpPr>
          <p:cNvPr id="11" name="TextBox 10"/>
          <p:cNvSpPr txBox="1"/>
          <p:nvPr/>
        </p:nvSpPr>
        <p:spPr>
          <a:xfrm>
            <a:off x="6263640" y="1133856"/>
            <a:ext cx="5440680" cy="502920"/>
          </a:xfrm>
          <a:prstGeom prst="rect">
            <a:avLst/>
          </a:prstGeom>
          <a:noFill/>
        </p:spPr>
        <p:txBody>
          <a:bodyPr wrap="square">
            <a:spAutoFit/>
          </a:bodyPr>
          <a:lstStyle/>
          <a:p>
            <a:pPr>
              <a:defRPr sz="800" b="0">
                <a:solidFill>
                  <a:srgbClr val="000000"/>
                </a:solidFill>
              </a:defRPr>
            </a:pPr>
            <a:r>
              <a:t>1. Continuity over snapshots</a:t>
            </a:r>
            <a:br/>
            <a:r>
              <a:t>2. Operational truth over procedural confidence</a:t>
            </a:r>
            <a:br/>
            <a:r>
              <a:t>3. Relationships create value</a:t>
            </a:r>
            <a:br/>
            <a:r>
              <a:t>4. Unknown future relevance</a:t>
            </a:r>
            <a:br/>
            <a:r>
              <a:t>5. Human + Machine cognition</a:t>
            </a:r>
            <a:br/>
            <a:r>
              <a:t>6. Adaptability over rigidity</a:t>
            </a:r>
          </a:p>
        </p:txBody>
      </p:sp>
      <p:sp>
        <p:nvSpPr>
          <p:cNvPr id="12" name="TextBox 11"/>
          <p:cNvSpPr txBox="1"/>
          <p:nvPr/>
        </p:nvSpPr>
        <p:spPr>
          <a:xfrm>
            <a:off x="6263640" y="1664207"/>
            <a:ext cx="5440680" cy="164592"/>
          </a:xfrm>
          <a:prstGeom prst="rect">
            <a:avLst/>
          </a:prstGeom>
          <a:noFill/>
        </p:spPr>
        <p:txBody>
          <a:bodyPr wrap="square">
            <a:spAutoFit/>
          </a:bodyPr>
          <a:lstStyle/>
          <a:p>
            <a:pPr>
              <a:defRPr sz="900" b="1">
                <a:solidFill>
                  <a:srgbClr val="004CA0"/>
                </a:solidFill>
              </a:defRPr>
            </a:pPr>
            <a:r>
              <a:t>MAJOR BENEFITS</a:t>
            </a:r>
          </a:p>
        </p:txBody>
      </p:sp>
      <p:sp>
        <p:nvSpPr>
          <p:cNvPr id="13" name="TextBox 12"/>
          <p:cNvSpPr txBox="1"/>
          <p:nvPr/>
        </p:nvSpPr>
        <p:spPr>
          <a:xfrm>
            <a:off x="6263640" y="1883663"/>
            <a:ext cx="5440680" cy="502920"/>
          </a:xfrm>
          <a:prstGeom prst="rect">
            <a:avLst/>
          </a:prstGeom>
          <a:noFill/>
        </p:spPr>
        <p:txBody>
          <a:bodyPr wrap="square">
            <a:spAutoFit/>
          </a:bodyPr>
          <a:lstStyle/>
          <a:p>
            <a:pPr>
              <a:defRPr sz="800" b="0">
                <a:solidFill>
                  <a:srgbClr val="000000"/>
                </a:solidFill>
              </a:defRPr>
            </a:pPr>
            <a:r>
              <a:t>Durable organisational memory; faster learning; better decisions; earlier drift, risk and opportunity detection; resilience through recoverability; scalable collaboration; future-ready infrastructure.</a:t>
            </a:r>
          </a:p>
        </p:txBody>
      </p:sp>
      <p:sp>
        <p:nvSpPr>
          <p:cNvPr id="14" name="TextBox 13"/>
          <p:cNvSpPr txBox="1"/>
          <p:nvPr/>
        </p:nvSpPr>
        <p:spPr>
          <a:xfrm>
            <a:off x="6263640" y="2414015"/>
            <a:ext cx="5440680" cy="164592"/>
          </a:xfrm>
          <a:prstGeom prst="rect">
            <a:avLst/>
          </a:prstGeom>
          <a:noFill/>
        </p:spPr>
        <p:txBody>
          <a:bodyPr wrap="square">
            <a:spAutoFit/>
          </a:bodyPr>
          <a:lstStyle/>
          <a:p>
            <a:pPr>
              <a:defRPr sz="900" b="1">
                <a:solidFill>
                  <a:srgbClr val="004CA0"/>
                </a:solidFill>
              </a:defRPr>
            </a:pPr>
            <a:r>
              <a:t>HOW WE GET THERE</a:t>
            </a:r>
          </a:p>
        </p:txBody>
      </p:sp>
      <p:sp>
        <p:nvSpPr>
          <p:cNvPr id="15" name="TextBox 14"/>
          <p:cNvSpPr txBox="1"/>
          <p:nvPr/>
        </p:nvSpPr>
        <p:spPr>
          <a:xfrm>
            <a:off x="6263640" y="2633472"/>
            <a:ext cx="5440680" cy="502920"/>
          </a:xfrm>
          <a:prstGeom prst="rect">
            <a:avLst/>
          </a:prstGeom>
          <a:noFill/>
        </p:spPr>
        <p:txBody>
          <a:bodyPr wrap="square">
            <a:spAutoFit/>
          </a:bodyPr>
          <a:lstStyle/>
          <a:p>
            <a:pPr>
              <a:defRPr sz="800" b="0">
                <a:solidFill>
                  <a:srgbClr val="000000"/>
                </a:solidFill>
              </a:defRPr>
            </a:pPr>
            <a:r>
              <a:t>1. Capture continuously</a:t>
            </a:r>
            <a:br/>
            <a:r>
              <a:t>2. Structure meaning</a:t>
            </a:r>
            <a:br/>
            <a:r>
              <a:t>3. Link evidence</a:t>
            </a:r>
            <a:br/>
            <a:r>
              <a:t>4. Surface intelligence</a:t>
            </a:r>
            <a:br/>
            <a:r>
              <a:t>5. Evolve relentlessly</a:t>
            </a:r>
          </a:p>
        </p:txBody>
      </p:sp>
      <p:sp>
        <p:nvSpPr>
          <p:cNvPr id="16" name="TextBox 15"/>
          <p:cNvSpPr txBox="1"/>
          <p:nvPr/>
        </p:nvSpPr>
        <p:spPr>
          <a:xfrm>
            <a:off x="6263640" y="3163823"/>
            <a:ext cx="5440680" cy="164592"/>
          </a:xfrm>
          <a:prstGeom prst="rect">
            <a:avLst/>
          </a:prstGeom>
          <a:noFill/>
        </p:spPr>
        <p:txBody>
          <a:bodyPr wrap="square">
            <a:spAutoFit/>
          </a:bodyPr>
          <a:lstStyle/>
          <a:p>
            <a:pPr>
              <a:defRPr sz="900" b="1">
                <a:solidFill>
                  <a:srgbClr val="004CA0"/>
                </a:solidFill>
              </a:defRPr>
            </a:pPr>
            <a:r>
              <a:t>THE PURPOSE</a:t>
            </a:r>
          </a:p>
        </p:txBody>
      </p:sp>
      <p:sp>
        <p:nvSpPr>
          <p:cNvPr id="17" name="TextBox 16"/>
          <p:cNvSpPr txBox="1"/>
          <p:nvPr/>
        </p:nvSpPr>
        <p:spPr>
          <a:xfrm>
            <a:off x="6263640" y="3383279"/>
            <a:ext cx="5440680" cy="502920"/>
          </a:xfrm>
          <a:prstGeom prst="rect">
            <a:avLst/>
          </a:prstGeom>
          <a:noFill/>
        </p:spPr>
        <p:txBody>
          <a:bodyPr wrap="square">
            <a:spAutoFit/>
          </a:bodyPr>
          <a:lstStyle/>
          <a:p>
            <a:pPr>
              <a:defRPr sz="800" b="0">
                <a:solidFill>
                  <a:srgbClr val="000000"/>
                </a:solidFill>
              </a:defRPr>
            </a:pPr>
            <a:r>
              <a:t>Not to replace people, process, or documentation, but to make them effective in a world that moves faster than traditional systems can track.</a:t>
            </a:r>
          </a:p>
        </p:txBody>
      </p:sp>
      <p:sp>
        <p:nvSpPr>
          <p:cNvPr id="18" name="Rounded Rectangle 17"/>
          <p:cNvSpPr/>
          <p:nvPr/>
        </p:nvSpPr>
        <p:spPr>
          <a:xfrm>
            <a:off x="320040" y="4279392"/>
            <a:ext cx="11475720" cy="2331720"/>
          </a:xfrm>
          <a:prstGeom prst="roundRect">
            <a:avLst/>
          </a:prstGeom>
          <a:solidFill>
            <a:srgbClr val="FAFCFF"/>
          </a:solidFill>
          <a:ln w="12700">
            <a:solidFill>
              <a:srgbClr val="004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434840"/>
            <a:ext cx="1920240" cy="201168"/>
          </a:xfrm>
          <a:prstGeom prst="rect">
            <a:avLst/>
          </a:prstGeom>
          <a:noFill/>
        </p:spPr>
        <p:txBody>
          <a:bodyPr wrap="square">
            <a:spAutoFit/>
          </a:bodyPr>
          <a:lstStyle/>
          <a:p>
            <a:pPr algn="ctr">
              <a:defRPr sz="900" b="1">
                <a:solidFill>
                  <a:srgbClr val="0A1B30"/>
                </a:solidFill>
              </a:defRPr>
            </a:pPr>
            <a:r>
              <a:t>THE OLD WORLD</a:t>
            </a:r>
          </a:p>
        </p:txBody>
      </p:sp>
      <p:sp>
        <p:nvSpPr>
          <p:cNvPr id="20" name="Rounded Rectangle 19"/>
          <p:cNvSpPr/>
          <p:nvPr/>
        </p:nvSpPr>
        <p:spPr>
          <a:xfrm>
            <a:off x="502920" y="4663440"/>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4668012"/>
            <a:ext cx="1463040" cy="100584"/>
          </a:xfrm>
          <a:prstGeom prst="rect">
            <a:avLst/>
          </a:prstGeom>
          <a:noFill/>
        </p:spPr>
        <p:txBody>
          <a:bodyPr wrap="square">
            <a:spAutoFit/>
          </a:bodyPr>
          <a:lstStyle/>
          <a:p>
            <a:pPr>
              <a:defRPr sz="500" b="0">
                <a:solidFill>
                  <a:srgbClr val="0A1B30"/>
                </a:solidFill>
              </a:defRPr>
            </a:pPr>
            <a:r>
              <a:t>Meetings</a:t>
            </a:r>
          </a:p>
        </p:txBody>
      </p:sp>
      <p:sp>
        <p:nvSpPr>
          <p:cNvPr id="22" name="Rounded Rectangle 21"/>
          <p:cNvSpPr/>
          <p:nvPr/>
        </p:nvSpPr>
        <p:spPr>
          <a:xfrm>
            <a:off x="502920" y="4864607"/>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4869180"/>
            <a:ext cx="1463040" cy="100584"/>
          </a:xfrm>
          <a:prstGeom prst="rect">
            <a:avLst/>
          </a:prstGeom>
          <a:noFill/>
        </p:spPr>
        <p:txBody>
          <a:bodyPr wrap="square">
            <a:spAutoFit/>
          </a:bodyPr>
          <a:lstStyle/>
          <a:p>
            <a:pPr>
              <a:defRPr sz="500" b="0">
                <a:solidFill>
                  <a:srgbClr val="0A1B30"/>
                </a:solidFill>
              </a:defRPr>
            </a:pPr>
            <a:r>
              <a:t>Documents</a:t>
            </a:r>
          </a:p>
        </p:txBody>
      </p:sp>
      <p:sp>
        <p:nvSpPr>
          <p:cNvPr id="24" name="Rounded Rectangle 23"/>
          <p:cNvSpPr/>
          <p:nvPr/>
        </p:nvSpPr>
        <p:spPr>
          <a:xfrm>
            <a:off x="502920" y="5065776"/>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5070348"/>
            <a:ext cx="1463040" cy="100584"/>
          </a:xfrm>
          <a:prstGeom prst="rect">
            <a:avLst/>
          </a:prstGeom>
          <a:noFill/>
        </p:spPr>
        <p:txBody>
          <a:bodyPr wrap="square">
            <a:spAutoFit/>
          </a:bodyPr>
          <a:lstStyle/>
          <a:p>
            <a:pPr>
              <a:defRPr sz="500" b="0">
                <a:solidFill>
                  <a:srgbClr val="0A1B30"/>
                </a:solidFill>
              </a:defRPr>
            </a:pPr>
            <a:r>
              <a:t>Emails / Chats</a:t>
            </a:r>
          </a:p>
        </p:txBody>
      </p:sp>
      <p:sp>
        <p:nvSpPr>
          <p:cNvPr id="26" name="Rounded Rectangle 25"/>
          <p:cNvSpPr/>
          <p:nvPr/>
        </p:nvSpPr>
        <p:spPr>
          <a:xfrm>
            <a:off x="502920" y="5266944"/>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5271516"/>
            <a:ext cx="1463040" cy="100584"/>
          </a:xfrm>
          <a:prstGeom prst="rect">
            <a:avLst/>
          </a:prstGeom>
          <a:noFill/>
        </p:spPr>
        <p:txBody>
          <a:bodyPr wrap="square">
            <a:spAutoFit/>
          </a:bodyPr>
          <a:lstStyle/>
          <a:p>
            <a:pPr>
              <a:defRPr sz="500" b="0">
                <a:solidFill>
                  <a:srgbClr val="0A1B30"/>
                </a:solidFill>
              </a:defRPr>
            </a:pPr>
            <a:r>
              <a:t>Spreadsheets</a:t>
            </a:r>
          </a:p>
        </p:txBody>
      </p:sp>
      <p:sp>
        <p:nvSpPr>
          <p:cNvPr id="28" name="Rounded Rectangle 27"/>
          <p:cNvSpPr/>
          <p:nvPr/>
        </p:nvSpPr>
        <p:spPr>
          <a:xfrm>
            <a:off x="502920" y="5468112"/>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 y="5472684"/>
            <a:ext cx="1463040" cy="100584"/>
          </a:xfrm>
          <a:prstGeom prst="rect">
            <a:avLst/>
          </a:prstGeom>
          <a:noFill/>
        </p:spPr>
        <p:txBody>
          <a:bodyPr wrap="square">
            <a:spAutoFit/>
          </a:bodyPr>
          <a:lstStyle/>
          <a:p>
            <a:pPr>
              <a:defRPr sz="500" b="0">
                <a:solidFill>
                  <a:srgbClr val="0A1B30"/>
                </a:solidFill>
              </a:defRPr>
            </a:pPr>
            <a:r>
              <a:t>Dashboards</a:t>
            </a:r>
          </a:p>
        </p:txBody>
      </p:sp>
      <p:sp>
        <p:nvSpPr>
          <p:cNvPr id="30" name="Rounded Rectangle 29"/>
          <p:cNvSpPr/>
          <p:nvPr/>
        </p:nvSpPr>
        <p:spPr>
          <a:xfrm>
            <a:off x="502920" y="5669279"/>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673852"/>
            <a:ext cx="1463040" cy="100584"/>
          </a:xfrm>
          <a:prstGeom prst="rect">
            <a:avLst/>
          </a:prstGeom>
          <a:noFill/>
        </p:spPr>
        <p:txBody>
          <a:bodyPr wrap="square">
            <a:spAutoFit/>
          </a:bodyPr>
          <a:lstStyle/>
          <a:p>
            <a:pPr>
              <a:defRPr sz="500" b="0">
                <a:solidFill>
                  <a:srgbClr val="0A1B30"/>
                </a:solidFill>
              </a:defRPr>
            </a:pPr>
            <a:r>
              <a:t>Systems</a:t>
            </a:r>
          </a:p>
        </p:txBody>
      </p:sp>
      <p:sp>
        <p:nvSpPr>
          <p:cNvPr id="32" name="Rounded Rectangle 31"/>
          <p:cNvSpPr/>
          <p:nvPr/>
        </p:nvSpPr>
        <p:spPr>
          <a:xfrm>
            <a:off x="502920" y="5870448"/>
            <a:ext cx="1691640" cy="146304"/>
          </a:xfrm>
          <a:prstGeom prst="roundRect">
            <a:avLst/>
          </a:prstGeom>
          <a:solidFill>
            <a:srgbClr val="FFFFFF"/>
          </a:solidFill>
          <a:ln w="12700">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 y="5875020"/>
            <a:ext cx="1463040" cy="100584"/>
          </a:xfrm>
          <a:prstGeom prst="rect">
            <a:avLst/>
          </a:prstGeom>
          <a:noFill/>
        </p:spPr>
        <p:txBody>
          <a:bodyPr wrap="square">
            <a:spAutoFit/>
          </a:bodyPr>
          <a:lstStyle/>
          <a:p>
            <a:pPr>
              <a:defRPr sz="500" b="0">
                <a:solidFill>
                  <a:srgbClr val="0A1B30"/>
                </a:solidFill>
              </a:defRPr>
            </a:pPr>
            <a:r>
              <a:t>Reports</a:t>
            </a:r>
          </a:p>
        </p:txBody>
      </p:sp>
      <p:sp>
        <p:nvSpPr>
          <p:cNvPr id="34" name="Oval 33"/>
          <p:cNvSpPr/>
          <p:nvPr/>
        </p:nvSpPr>
        <p:spPr>
          <a:xfrm>
            <a:off x="3337560" y="4983480"/>
            <a:ext cx="868680" cy="457200"/>
          </a:xfrm>
          <a:prstGeom prst="ellipse">
            <a:avLst/>
          </a:prstGeom>
          <a:solidFill>
            <a:srgbClr val="EBEBEB"/>
          </a:solidFill>
          <a:ln w="12700">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29000" y="5084064"/>
            <a:ext cx="685800" cy="146304"/>
          </a:xfrm>
          <a:prstGeom prst="rect">
            <a:avLst/>
          </a:prstGeom>
          <a:noFill/>
        </p:spPr>
        <p:txBody>
          <a:bodyPr wrap="square">
            <a:spAutoFit/>
          </a:bodyPr>
          <a:lstStyle/>
          <a:p>
            <a:pPr algn="ctr">
              <a:defRPr sz="600" b="0">
                <a:solidFill>
                  <a:srgbClr val="0A1B30"/>
                </a:solidFill>
              </a:defRPr>
            </a:pPr>
            <a:r>
              <a:t>Context Lost</a:t>
            </a:r>
            <a:br/>
            <a:r>
              <a:t>in Translation</a:t>
            </a:r>
          </a:p>
        </p:txBody>
      </p:sp>
      <p:sp>
        <p:nvSpPr>
          <p:cNvPr id="36" name="Oval 35"/>
          <p:cNvSpPr/>
          <p:nvPr/>
        </p:nvSpPr>
        <p:spPr>
          <a:xfrm>
            <a:off x="4709160" y="4617720"/>
            <a:ext cx="1828800" cy="1143000"/>
          </a:xfrm>
          <a:prstGeom prst="ellipse">
            <a:avLst/>
          </a:prstGeom>
          <a:solidFill>
            <a:srgbClr val="CCEBFF"/>
          </a:solidFill>
          <a:ln w="12700">
            <a:solidFill>
              <a:srgbClr val="78BE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19472" y="4828032"/>
            <a:ext cx="1417320" cy="502920"/>
          </a:xfrm>
          <a:prstGeom prst="rect">
            <a:avLst/>
          </a:prstGeom>
          <a:noFill/>
        </p:spPr>
        <p:txBody>
          <a:bodyPr wrap="square">
            <a:spAutoFit/>
          </a:bodyPr>
          <a:lstStyle/>
          <a:p>
            <a:pPr algn="ctr">
              <a:defRPr sz="700" b="1">
                <a:solidFill>
                  <a:srgbClr val="004CA0"/>
                </a:solidFill>
              </a:defRPr>
            </a:pPr>
            <a:r>
              <a:t>LIVING COGNITION</a:t>
            </a:r>
            <a:br/>
            <a:r>
              <a:t>INFRASTRUCTURE</a:t>
            </a:r>
            <a:br/>
            <a:br/>
            <a:r>
              <a:t>Persistent Memory</a:t>
            </a:r>
            <a:br/>
            <a:r>
              <a:t>Relationships</a:t>
            </a:r>
            <a:br/>
            <a:r>
              <a:t>Evidence</a:t>
            </a:r>
            <a:br/>
            <a:r>
              <a:t>Runtime Truth</a:t>
            </a:r>
          </a:p>
        </p:txBody>
      </p:sp>
      <p:sp>
        <p:nvSpPr>
          <p:cNvPr id="38" name="TextBox 37"/>
          <p:cNvSpPr txBox="1"/>
          <p:nvPr/>
        </p:nvSpPr>
        <p:spPr>
          <a:xfrm>
            <a:off x="4892040" y="4370832"/>
            <a:ext cx="1600200" cy="228600"/>
          </a:xfrm>
          <a:prstGeom prst="rect">
            <a:avLst/>
          </a:prstGeom>
          <a:noFill/>
        </p:spPr>
        <p:txBody>
          <a:bodyPr wrap="square">
            <a:spAutoFit/>
          </a:bodyPr>
          <a:lstStyle/>
          <a:p>
            <a:pPr algn="ctr">
              <a:defRPr sz="700" b="1">
                <a:solidFill>
                  <a:srgbClr val="004CA0"/>
                </a:solidFill>
              </a:defRPr>
            </a:pPr>
            <a:r>
              <a:t>Continuous Feedback</a:t>
            </a:r>
            <a:br/>
            <a:r>
              <a:t>&amp; Evolution</a:t>
            </a:r>
          </a:p>
        </p:txBody>
      </p:sp>
      <p:sp>
        <p:nvSpPr>
          <p:cNvPr id="39" name="TextBox 38"/>
          <p:cNvSpPr txBox="1"/>
          <p:nvPr/>
        </p:nvSpPr>
        <p:spPr>
          <a:xfrm>
            <a:off x="8183879" y="4434840"/>
            <a:ext cx="2011680" cy="201168"/>
          </a:xfrm>
          <a:prstGeom prst="rect">
            <a:avLst/>
          </a:prstGeom>
          <a:noFill/>
        </p:spPr>
        <p:txBody>
          <a:bodyPr wrap="square">
            <a:spAutoFit/>
          </a:bodyPr>
          <a:lstStyle/>
          <a:p>
            <a:pPr algn="ctr">
              <a:defRPr sz="900" b="1">
                <a:solidFill>
                  <a:srgbClr val="004CA0"/>
                </a:solidFill>
              </a:defRPr>
            </a:pPr>
            <a:r>
              <a:t>THE NEW WORLD</a:t>
            </a:r>
          </a:p>
        </p:txBody>
      </p:sp>
      <p:sp>
        <p:nvSpPr>
          <p:cNvPr id="40" name="Rounded Rectangle 39"/>
          <p:cNvSpPr/>
          <p:nvPr/>
        </p:nvSpPr>
        <p:spPr>
          <a:xfrm>
            <a:off x="8275320" y="4681728"/>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30768" y="4686300"/>
            <a:ext cx="1828800" cy="100584"/>
          </a:xfrm>
          <a:prstGeom prst="rect">
            <a:avLst/>
          </a:prstGeom>
          <a:noFill/>
        </p:spPr>
        <p:txBody>
          <a:bodyPr wrap="square">
            <a:spAutoFit/>
          </a:bodyPr>
          <a:lstStyle/>
          <a:p>
            <a:pPr>
              <a:defRPr sz="500" b="0">
                <a:solidFill>
                  <a:srgbClr val="004CA0"/>
                </a:solidFill>
              </a:defRPr>
            </a:pPr>
            <a:r>
              <a:t>Operational Awareness</a:t>
            </a:r>
          </a:p>
        </p:txBody>
      </p:sp>
      <p:sp>
        <p:nvSpPr>
          <p:cNvPr id="42" name="Rounded Rectangle 41"/>
          <p:cNvSpPr/>
          <p:nvPr/>
        </p:nvSpPr>
        <p:spPr>
          <a:xfrm>
            <a:off x="8275320" y="4882896"/>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430768" y="4887468"/>
            <a:ext cx="1828800" cy="100584"/>
          </a:xfrm>
          <a:prstGeom prst="rect">
            <a:avLst/>
          </a:prstGeom>
          <a:noFill/>
        </p:spPr>
        <p:txBody>
          <a:bodyPr wrap="square">
            <a:spAutoFit/>
          </a:bodyPr>
          <a:lstStyle/>
          <a:p>
            <a:pPr>
              <a:defRPr sz="500" b="0">
                <a:solidFill>
                  <a:srgbClr val="004CA0"/>
                </a:solidFill>
              </a:defRPr>
            </a:pPr>
            <a:r>
              <a:t>Better Decisions</a:t>
            </a:r>
          </a:p>
        </p:txBody>
      </p:sp>
      <p:sp>
        <p:nvSpPr>
          <p:cNvPr id="44" name="Rounded Rectangle 43"/>
          <p:cNvSpPr/>
          <p:nvPr/>
        </p:nvSpPr>
        <p:spPr>
          <a:xfrm>
            <a:off x="8275320" y="5084064"/>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30768" y="5088636"/>
            <a:ext cx="1828800" cy="100584"/>
          </a:xfrm>
          <a:prstGeom prst="rect">
            <a:avLst/>
          </a:prstGeom>
          <a:noFill/>
        </p:spPr>
        <p:txBody>
          <a:bodyPr wrap="square">
            <a:spAutoFit/>
          </a:bodyPr>
          <a:lstStyle/>
          <a:p>
            <a:pPr>
              <a:defRPr sz="500" b="0">
                <a:solidFill>
                  <a:srgbClr val="004CA0"/>
                </a:solidFill>
              </a:defRPr>
            </a:pPr>
            <a:r>
              <a:t>Faster Learning</a:t>
            </a:r>
          </a:p>
        </p:txBody>
      </p:sp>
      <p:sp>
        <p:nvSpPr>
          <p:cNvPr id="46" name="Rounded Rectangle 45"/>
          <p:cNvSpPr/>
          <p:nvPr/>
        </p:nvSpPr>
        <p:spPr>
          <a:xfrm>
            <a:off x="8275320" y="5285232"/>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30768" y="5289804"/>
            <a:ext cx="1828800" cy="100584"/>
          </a:xfrm>
          <a:prstGeom prst="rect">
            <a:avLst/>
          </a:prstGeom>
          <a:noFill/>
        </p:spPr>
        <p:txBody>
          <a:bodyPr wrap="square">
            <a:spAutoFit/>
          </a:bodyPr>
          <a:lstStyle/>
          <a:p>
            <a:pPr>
              <a:defRPr sz="500" b="0">
                <a:solidFill>
                  <a:srgbClr val="004CA0"/>
                </a:solidFill>
              </a:defRPr>
            </a:pPr>
            <a:r>
              <a:t>Risk &amp; Drift Detection</a:t>
            </a:r>
          </a:p>
        </p:txBody>
      </p:sp>
      <p:sp>
        <p:nvSpPr>
          <p:cNvPr id="48" name="Rounded Rectangle 47"/>
          <p:cNvSpPr/>
          <p:nvPr/>
        </p:nvSpPr>
        <p:spPr>
          <a:xfrm>
            <a:off x="8275320" y="5486400"/>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30768" y="5490972"/>
            <a:ext cx="1828800" cy="100584"/>
          </a:xfrm>
          <a:prstGeom prst="rect">
            <a:avLst/>
          </a:prstGeom>
          <a:noFill/>
        </p:spPr>
        <p:txBody>
          <a:bodyPr wrap="square">
            <a:spAutoFit/>
          </a:bodyPr>
          <a:lstStyle/>
          <a:p>
            <a:pPr>
              <a:defRPr sz="500" b="0">
                <a:solidFill>
                  <a:srgbClr val="004CA0"/>
                </a:solidFill>
              </a:defRPr>
            </a:pPr>
            <a:r>
              <a:t>Resilience &amp; Recovery</a:t>
            </a:r>
          </a:p>
        </p:txBody>
      </p:sp>
      <p:sp>
        <p:nvSpPr>
          <p:cNvPr id="50" name="Rounded Rectangle 49"/>
          <p:cNvSpPr/>
          <p:nvPr/>
        </p:nvSpPr>
        <p:spPr>
          <a:xfrm>
            <a:off x="8275320" y="5687568"/>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30768" y="5692140"/>
            <a:ext cx="1828800" cy="100584"/>
          </a:xfrm>
          <a:prstGeom prst="rect">
            <a:avLst/>
          </a:prstGeom>
          <a:noFill/>
        </p:spPr>
        <p:txBody>
          <a:bodyPr wrap="square">
            <a:spAutoFit/>
          </a:bodyPr>
          <a:lstStyle/>
          <a:p>
            <a:pPr>
              <a:defRPr sz="500" b="0">
                <a:solidFill>
                  <a:srgbClr val="004CA0"/>
                </a:solidFill>
              </a:defRPr>
            </a:pPr>
            <a:r>
              <a:t>Cross-Org Collaboration</a:t>
            </a:r>
          </a:p>
        </p:txBody>
      </p:sp>
      <p:sp>
        <p:nvSpPr>
          <p:cNvPr id="52" name="Rounded Rectangle 51"/>
          <p:cNvSpPr/>
          <p:nvPr/>
        </p:nvSpPr>
        <p:spPr>
          <a:xfrm>
            <a:off x="8275320" y="5888736"/>
            <a:ext cx="2240280" cy="146304"/>
          </a:xfrm>
          <a:prstGeom prst="roundRect">
            <a:avLst/>
          </a:prstGeom>
          <a:solidFill>
            <a:srgbClr val="FFFFFF"/>
          </a:solidFill>
          <a:ln w="12700">
            <a:solidFill>
              <a:srgbClr val="C8D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30768" y="5893308"/>
            <a:ext cx="1828800" cy="100584"/>
          </a:xfrm>
          <a:prstGeom prst="rect">
            <a:avLst/>
          </a:prstGeom>
          <a:noFill/>
        </p:spPr>
        <p:txBody>
          <a:bodyPr wrap="square">
            <a:spAutoFit/>
          </a:bodyPr>
          <a:lstStyle/>
          <a:p>
            <a:pPr>
              <a:defRPr sz="500" b="0">
                <a:solidFill>
                  <a:srgbClr val="004CA0"/>
                </a:solidFill>
              </a:defRPr>
            </a:pPr>
            <a:r>
              <a:t>Future Discovery</a:t>
            </a:r>
          </a:p>
        </p:txBody>
      </p:sp>
      <p:sp>
        <p:nvSpPr>
          <p:cNvPr id="54" name="TextBox 53"/>
          <p:cNvSpPr txBox="1"/>
          <p:nvPr/>
        </p:nvSpPr>
        <p:spPr>
          <a:xfrm>
            <a:off x="3749039" y="6437376"/>
            <a:ext cx="4937760" cy="182880"/>
          </a:xfrm>
          <a:prstGeom prst="rect">
            <a:avLst/>
          </a:prstGeom>
          <a:noFill/>
        </p:spPr>
        <p:txBody>
          <a:bodyPr wrap="square">
            <a:spAutoFit/>
          </a:bodyPr>
          <a:lstStyle/>
          <a:p>
            <a:pPr algn="ctr">
              <a:defRPr sz="1000" b="1">
                <a:solidFill>
                  <a:srgbClr val="004CA0"/>
                </a:solidFill>
              </a:defRPr>
            </a:pPr>
            <a:r>
              <a:t>From Process Completion to Outcome Excellence</a:t>
            </a:r>
          </a:p>
        </p:txBody>
      </p:sp>
      <p:sp>
        <p:nvSpPr>
          <p:cNvPr id="55" name="TextBox 54"/>
          <p:cNvSpPr txBox="1"/>
          <p:nvPr/>
        </p:nvSpPr>
        <p:spPr>
          <a:xfrm>
            <a:off x="3017520" y="6601968"/>
            <a:ext cx="6492240" cy="182880"/>
          </a:xfrm>
          <a:prstGeom prst="rect">
            <a:avLst/>
          </a:prstGeom>
          <a:noFill/>
        </p:spPr>
        <p:txBody>
          <a:bodyPr wrap="square">
            <a:spAutoFit/>
          </a:bodyPr>
          <a:lstStyle/>
          <a:p>
            <a:pPr algn="ctr">
              <a:defRPr sz="800" b="0">
                <a:solidFill>
                  <a:srgbClr val="004CA0"/>
                </a:solidFill>
              </a:defRPr>
            </a:pPr>
            <a:r>
              <a:t>Template slide: edit headings, bullets, metrics, and diagram labels for each programme.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20040" y="182880"/>
            <a:ext cx="10972800" cy="274320"/>
          </a:xfrm>
          <a:prstGeom prst="rect">
            <a:avLst/>
          </a:prstGeom>
          <a:noFill/>
        </p:spPr>
        <p:txBody>
          <a:bodyPr wrap="square">
            <a:spAutoFit/>
          </a:bodyPr>
          <a:lstStyle/>
          <a:p>
            <a:pPr>
              <a:defRPr sz="2200" b="1">
                <a:solidFill>
                  <a:srgbClr val="0A1B30"/>
                </a:solidFill>
              </a:defRPr>
            </a:pPr>
            <a:r>
              <a:t>Source reference image</a:t>
            </a:r>
          </a:p>
        </p:txBody>
      </p:sp>
      <p:pic>
        <p:nvPicPr>
          <p:cNvPr id="3" name="Picture 2" descr="Living cognition infrastructure for operational success.png"/>
          <p:cNvPicPr>
            <a:picLocks noChangeAspect="1"/>
          </p:cNvPicPr>
          <p:nvPr/>
        </p:nvPicPr>
        <p:blipFill>
          <a:blip r:embed="rId2"/>
          <a:stretch>
            <a:fillRect/>
          </a:stretch>
        </p:blipFill>
        <p:spPr>
          <a:xfrm>
            <a:off x="2651760" y="594360"/>
            <a:ext cx="3992880" cy="5989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